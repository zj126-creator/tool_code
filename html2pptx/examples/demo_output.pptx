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 u="none">
                <a:solidFill>
                  <a:srgbClr val="1A1A1A"/>
                </a:solidFill>
                <a:latin typeface="微软雅黑"/>
              </a:rPr>
              <a:t>HTML 转 PPTX 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3959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这是一个从第一性原理出发开发的 HTML→PPTX 转换器。它能将 HTML 内容</a:t>
            </a:r>
            <a:r>
              <a:rPr sz="1400" b="1" i="0" u="none">
                <a:solidFill>
                  <a:srgbClr val="333333"/>
                </a:solidFill>
                <a:latin typeface="微软雅黑"/>
              </a:rPr>
              <a:t>一字不差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地转换为</a:t>
            </a:r>
            <a:r>
              <a:rPr sz="1400" b="0" i="1" u="none">
                <a:solidFill>
                  <a:srgbClr val="333333"/>
                </a:solidFill>
                <a:latin typeface="微软雅黑"/>
              </a:rPr>
              <a:t>可编辑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的 PowerPoint 文件。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 u="none">
                <a:solidFill>
                  <a:srgbClr val="1A1A1A"/>
                </a:solidFill>
                <a:latin typeface="微软雅黑"/>
              </a:rPr>
              <a:t>核心特性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2776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27432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文本内容完整保留，</a:t>
            </a:r>
            <a:r>
              <a:rPr sz="1400" b="1" i="0" u="none">
                <a:solidFill>
                  <a:srgbClr val="333333"/>
                </a:solidFill>
                <a:latin typeface="微软雅黑"/>
              </a:rPr>
              <a:t>加粗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、</a:t>
            </a:r>
            <a:r>
              <a:rPr sz="1400" b="0" i="1" u="none">
                <a:solidFill>
                  <a:srgbClr val="333333"/>
                </a:solidFill>
                <a:latin typeface="微软雅黑"/>
              </a:rPr>
              <a:t>斜体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、</a:t>
            </a:r>
            <a:r>
              <a:rPr sz="1400" b="0" i="0" u="sng">
                <a:solidFill>
                  <a:srgbClr val="333333"/>
                </a:solidFill>
                <a:latin typeface="微软雅黑"/>
              </a:rPr>
              <a:t>下划线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等格式不丢失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590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27432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字体大小、颜色等样式尽可能保留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404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27432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图片自动嵌入（支持本地/HTTP/data URI）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0218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27432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表格结构完整保留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54864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表头特殊样式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1846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54864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交替行颜色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76599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274320" indent="-2286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列表层级正确映射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 u="none">
                <a:solidFill>
                  <a:srgbClr val="1A1A1A"/>
                </a:solidFill>
                <a:latin typeface="微软雅黑"/>
              </a:rPr>
              <a:t>表格示例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2776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 u="none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 u="none">
                          <a:solidFill>
                            <a:srgbClr val="FFFFFF"/>
                          </a:solidFill>
                          <a:latin typeface="微软雅黑"/>
                        </a:rPr>
                        <a:t>支持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 u="none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文本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所有文本内容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图片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PNG/JPEG/GIF/WebP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表格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 u="none">
                          <a:solidFill>
                            <a:srgbClr val="333333"/>
                          </a:solidFill>
                          <a:latin typeface="微软雅黑"/>
                        </a:rPr>
                        <a:t>完整表格结构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 u="none">
                <a:solidFill>
                  <a:srgbClr val="1A1A1A"/>
                </a:solidFill>
                <a:latin typeface="微软雅黑"/>
              </a:rPr>
              <a:t>代码块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27760"/>
            <a:ext cx="8229600" cy="457200"/>
          </a:xfrm>
          <a:prstGeom prst="rect">
            <a:avLst/>
          </a:prstGeom>
          <a:solidFill>
            <a:srgbClr val="1E1E1E"/>
          </a:solidFill>
        </p:spPr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def hello():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print("Hello, World!")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 u="none">
                <a:solidFill>
                  <a:srgbClr val="1A1A1A"/>
                </a:solidFill>
                <a:latin typeface="微软雅黑"/>
              </a:rPr>
              <a:t>段落对齐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2776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这段文字居中对齐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590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这段文字右对齐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4040"/>
            <a:ext cx="8229600" cy="3771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 u="none">
                <a:solidFill>
                  <a:srgbClr val="FF0000"/>
                </a:solidFill>
                <a:latin typeface="微软雅黑"/>
              </a:rPr>
              <a:t>这段文字红色且大号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23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 u="none">
                <a:solidFill>
                  <a:srgbClr val="1A1A1A"/>
                </a:solidFill>
                <a:latin typeface="微软雅黑"/>
              </a:rPr>
              <a:t>第三级标题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1559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程序会根据内容量自动分页，确保每页内容不过载。所有生成的 PPTX 元素都是</a:t>
            </a:r>
            <a:r>
              <a:rPr sz="1400" b="1" i="0" u="none">
                <a:solidFill>
                  <a:srgbClr val="333333"/>
                </a:solidFill>
                <a:latin typeface="微软雅黑"/>
              </a:rPr>
              <a:t>原生可编辑</a:t>
            </a:r>
            <a:r>
              <a:rPr sz="1400" b="0" i="0" u="none">
                <a:solidFill>
                  <a:srgbClr val="333333"/>
                </a:solidFill>
                <a:latin typeface="微软雅黑"/>
              </a:rPr>
              <a:t>的，不是截图。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73730"/>
            <a:ext cx="8229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56610"/>
            <a:ext cx="8229600" cy="3581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 u="none">
                <a:solidFill>
                  <a:srgbClr val="333333"/>
                </a:solidFill>
                <a:latin typeface="微软雅黑"/>
              </a:rPr>
              <a:t>感谢使用!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